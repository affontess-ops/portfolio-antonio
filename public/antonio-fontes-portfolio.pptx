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Georgia"/>
              </a:rPr>
              <a:t>Antonio</a:t>
            </a:r>
          </a:p>
          <a:p>
            <a:pPr algn="l"/>
            <a:r>
              <a:rPr sz="6600" b="1" i="0">
                <a:solidFill>
                  <a:srgbClr val="FFFFFF"/>
                </a:solidFill>
                <a:latin typeface="Georgia"/>
              </a:rPr>
              <a:t>Fontes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8A96FF"/>
                </a:solidFill>
                <a:latin typeface="Georgia"/>
              </a:rPr>
              <a:t>Portfólio — Campanhas BrasilCard &amp; BOLT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6F5"/>
                </a:solidFill>
                <a:latin typeface="Georgia"/>
              </a:rPr>
              <a:t>Copywriting: Antonio Fontes · Design: Marcello Castro</a:t>
            </a:r>
          </a:p>
          <a:p>
            <a:pPr algn="l"/>
            <a:r>
              <a:rPr sz="1400" b="0" i="0">
                <a:solidFill>
                  <a:srgbClr val="E2E6F5"/>
                </a:solidFill>
                <a:latin typeface="Georgia"/>
              </a:rPr>
              <a:t>comfontes@gmail.com · (86) 99997-4164 · Teresina — 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Recarga Rápida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6F5"/>
                </a:solidFill>
                <a:latin typeface="Georgia"/>
              </a:rPr>
              <a:t>Campanha para incentivar o uso da funcionalidade de recarga de celular dentro do App BrasilCard Cliente. Peças integradas de feed e site com o mesmo território visual.</a:t>
            </a:r>
          </a:p>
        </p:txBody>
      </p:sp>
      <p:pic>
        <p:nvPicPr>
          <p:cNvPr id="4" name="Picture 3" descr="recarga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2286000"/>
            <a:ext cx="3072384" cy="3840480"/>
          </a:xfrm>
          <a:prstGeom prst="rect">
            <a:avLst/>
          </a:prstGeom>
        </p:spPr>
      </p:pic>
      <p:pic>
        <p:nvPicPr>
          <p:cNvPr id="5" name="Picture 4" descr="recarga-fe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286000"/>
            <a:ext cx="3072384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96FF"/>
                </a:solidFill>
                <a:latin typeface="Georgia"/>
              </a:rPr>
              <a:t>Análise da estratégia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8346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6F5"/>
                </a:solidFill>
                <a:latin typeface="Georgia"/>
              </a:rPr>
              <a:t>Estratégia focada em reduzir fricção percebida: linguagem direta, gatilho de conveniência ('na palma da mão') e call-to-action único para migrar o hábito da loja física para o app. Peças de feed e banner mantêm consistência visual para reforçar reconhecimento em pontos de contato diferentes.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Recarga Rápida — Banner</a:t>
            </a:r>
          </a:p>
        </p:txBody>
      </p:sp>
      <p:pic>
        <p:nvPicPr>
          <p:cNvPr id="3" name="Picture 2" descr="recarga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49566"/>
            <a:ext cx="10698480" cy="39989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6F5"/>
                </a:solidFill>
                <a:latin typeface="Georgia"/>
              </a:rPr>
              <a:t>Copywriting: Antonio Fontes · Design: Marcello Castro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Indique um Amigo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6F5"/>
                </a:solidFill>
                <a:latin typeface="Georgia"/>
              </a:rPr>
              <a:t>Campanha de indicação com regra de conversão direta — R$20 de desconto por indicação aprovada, até 55 indicações por cliente (R$1.100 acumulável).</a:t>
            </a:r>
          </a:p>
        </p:txBody>
      </p:sp>
      <p:pic>
        <p:nvPicPr>
          <p:cNvPr id="4" name="Picture 3" descr="indique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7" y="2286000"/>
            <a:ext cx="3072384" cy="3840480"/>
          </a:xfrm>
          <a:prstGeom prst="rect">
            <a:avLst/>
          </a:prstGeom>
        </p:spPr>
      </p:pic>
      <p:pic>
        <p:nvPicPr>
          <p:cNvPr id="5" name="Picture 4" descr="indique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286000"/>
            <a:ext cx="3072384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96FF"/>
                </a:solidFill>
                <a:latin typeface="Georgia"/>
              </a:rPr>
              <a:t>Análise da estratégia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8346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6F5"/>
                </a:solidFill>
                <a:latin typeface="Georgia"/>
              </a:rPr>
              <a:t>Estratégia de crescimento orgânico via prova social e recompensa mensurável. A mecânica é apresentada de forma explícita (valor por indicação e teto acumulável) para eliminar dúvidas na conversão, e o tom conversacional aproxima o benefício da rotina do cliente, transformando o próprio usuário em canal de aquisição.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Indique um Amigo — Banner</a:t>
            </a:r>
          </a:p>
        </p:txBody>
      </p:sp>
      <p:pic>
        <p:nvPicPr>
          <p:cNvPr id="3" name="Picture 2" descr="indique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70935"/>
            <a:ext cx="10698480" cy="3956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6F5"/>
                </a:solidFill>
                <a:latin typeface="Georgia"/>
              </a:rPr>
              <a:t>Copywriting: Antonio Fontes · Design: Marcello Castro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Resultados mensuráveis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A96FF"/>
                </a:solidFill>
                <a:latin typeface="Georgia"/>
              </a:rPr>
              <a:t>16.400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87451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6F5"/>
                </a:solidFill>
                <a:latin typeface="Georgia"/>
              </a:rPr>
              <a:t>lojistas e vendedores impactados nos grupos de WhatsApp (19 grupos · BrasilCard + BOLT)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A96FF"/>
                </a:solidFill>
                <a:latin typeface="Georgia"/>
              </a:rPr>
              <a:t>5x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8346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6F5"/>
                </a:solidFill>
                <a:latin typeface="Georgia"/>
              </a:rPr>
              <a:t>aumento na conversão de campanhas sazonais (1% → 5% · jan–mai/2026)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A96FF"/>
                </a:solidFill>
                <a:latin typeface="Georg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7947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6F5"/>
                </a:solidFill>
                <a:latin typeface="Georgia"/>
              </a:rPr>
              <a:t>campanhas sazonais executadas nos últimos 6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A96FF"/>
                </a:solidFill>
                <a:latin typeface="Georgia"/>
              </a:rPr>
              <a:t>1.400%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754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6F5"/>
                </a:solidFill>
                <a:latin typeface="Georgia"/>
              </a:rPr>
              <a:t>crescimento de seguidores no Instagram (306 → 4.586 em 8 meses)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A96FF"/>
                </a:solidFill>
                <a:latin typeface="Georgia"/>
              </a:rPr>
              <a:t>86%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7150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6F5"/>
                </a:solidFill>
                <a:latin typeface="Georgia"/>
              </a:rPr>
              <a:t>aproveitamento em releases estratégicos (R2 Assessoria)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Vamos criar algo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que converte?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6F5"/>
                </a:solidFill>
                <a:latin typeface="Georgia"/>
              </a:rPr>
              <a:t>comfontes@gmail.com · (86) 99997-4164</a:t>
            </a:r>
          </a:p>
          <a:p>
            <a:pPr algn="l"/>
            <a:r>
              <a:rPr sz="1800" b="0" i="0">
                <a:solidFill>
                  <a:srgbClr val="E2E6F5"/>
                </a:solidFill>
                <a:latin typeface="Georgia"/>
              </a:rPr>
              <a:t>linkedin.com/in/antonio-fontes-silva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